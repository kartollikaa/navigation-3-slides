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dodo</a:t>
            </a:r>
            <a:pPr indent="0" marL="0">
              <a:buNone/>
            </a:pPr>
            <a:r>
              <a:rPr lang="en-US" sz="18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3504" y="22860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</a:t>
            </a:r>
            <a:pPr indent="0" marL="0">
              <a:buNone/>
            </a:pPr>
            <a:r>
              <a:rPr lang="en-US" sz="7400" b="1" dirty="0">
                <a:solidFill>
                  <a:srgbClr val="5B4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Бэкстек — это список, которым владеете вы.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Дмитрий Максимов · Dodo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чём этот доклад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ВСТУПЛЕНИЕ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0698480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249424"/>
            <a:ext cx="384048" cy="384048"/>
          </a:xfrm>
          <a:prstGeom prst="ellipse">
            <a:avLst/>
          </a:prstGeom>
          <a:solidFill>
            <a:srgbClr val="ECEAFC"/>
          </a:solidFill>
          <a:ln w="15240">
            <a:solidFill>
              <a:srgbClr val="5B4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01168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Navigation 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243230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NavDisplay над back stack, которым владеете вы. Типобезопасные ключи вместо строк-маршрутов.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10698480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666744"/>
            <a:ext cx="384048" cy="384048"/>
          </a:xfrm>
          <a:prstGeom prst="ellipse">
            <a:avLst/>
          </a:prstGeom>
          <a:solidFill>
            <a:srgbClr val="ECEAFC"/>
          </a:solidFill>
          <a:ln w="15240">
            <a:solidFill>
              <a:srgbClr val="5B4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4290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Сцены, анимации, декораторы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384962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устроены сцены (bottom sheet, dialog, multipane), переходы и декораторы над entry.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10698480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5084064"/>
            <a:ext cx="384048" cy="384048"/>
          </a:xfrm>
          <a:prstGeom prst="ellipse">
            <a:avLst/>
          </a:prstGeom>
          <a:solidFill>
            <a:srgbClr val="ECEAFC"/>
          </a:solidFill>
          <a:ln w="15240">
            <a:solidFill>
              <a:srgbClr val="5B4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48463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Миграция с Navigation 2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600200" y="52669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перейти итеративно — островами, от листьев к корню — без big-bang переписывания.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потока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2578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6510">
            <a:solidFill>
              <a:srgbClr val="E9E9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03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5B4EE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ФЛОУ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Основы Navigation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310128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Простейший NavDisplay и entry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Сцены: стандартные и кастомные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Анимации экранов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Декораторы над entry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2578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6510">
            <a:solidFill>
              <a:srgbClr val="E9E9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1031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7A2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ФЛОУ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7249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Миграция Nav2 → Nav3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310128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база на Nav2 + Fragments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фича Каталог → Nav3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флоу auth → Nav3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хост home → root NavDisplay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ФЛОУ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852928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Основы Navigation 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155680" y="6309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NavDisplay — как работает под капотом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NAVDISPLAY</a:t>
            </a:r>
            <a:endParaRPr lang="en-US" sz="1200" dirty="0"/>
          </a:p>
        </p:txBody>
      </p:sp>
      <p:pic>
        <p:nvPicPr>
          <p:cNvPr id="8" name="Image 0" descr="/tmp/deck2/png/under_h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01" y="1325880"/>
            <a:ext cx="10814517" cy="4663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ключей → NavDisplay рисует верхний → entryProvider превращает ключ в контент.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Простейший entry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ОСНОВЫ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371600"/>
            <a:ext cx="6400800" cy="4846320"/>
          </a:xfrm>
          <a:prstGeom prst="roundRect">
            <a:avLst>
              <a:gd name="adj" fmla="val 943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499616"/>
            <a:ext cx="6035040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rememberNavBackStack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ProductList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onBack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removeLastOrNull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ProductList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ProductListScreen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onOpen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ProductDetail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ProductDetail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ProductDetailScreen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</p:txBody>
      </p:sp>
      <p:pic>
        <p:nvPicPr>
          <p:cNvPr id="10" name="Image 0" descr="/tmp/deck2/png/forward_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162667"/>
            <a:ext cx="4754880" cy="134394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add(key) — вперёд · removeLastOrNull() — назад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2 vs Navigation 3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СРАВНЕНИЕ</a:t>
            </a:r>
            <a:endParaRPr lang="en-US" sz="1200" dirty="0"/>
          </a:p>
        </p:txBody>
      </p:sp>
      <p:pic>
        <p:nvPicPr>
          <p:cNvPr id="8" name="Image 0" descr="/tmp/deck2/png/nav2_vs_na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9838"/>
            <a:ext cx="11064240" cy="4266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Сцены решают, КАК разместить entry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СЦЕНЫ</a:t>
            </a:r>
            <a:endParaRPr lang="en-US" sz="1200" dirty="0"/>
          </a:p>
        </p:txBody>
      </p:sp>
      <p:pic>
        <p:nvPicPr>
          <p:cNvPr id="8" name="Image 0" descr="/tmp/deck2/png/scenes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223" y="1325880"/>
            <a:ext cx="1097307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 — интерфейс и ответственность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СЦЕНЫ</a:t>
            </a:r>
            <a:endParaRPr lang="en-US" sz="1200" dirty="0"/>
          </a:p>
        </p:txBody>
      </p:sp>
      <p:pic>
        <p:nvPicPr>
          <p:cNvPr id="8" name="Image 0" descr="/tmp/deck2/png/scene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2482"/>
            <a:ext cx="11064240" cy="40102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 = как разместить набор entry. SceneStrategy = когда выбрать эту сцену по текущему стеку.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простая сцена (SinglePane)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СЦЕНЫ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417320"/>
            <a:ext cx="9601200" cy="4754880"/>
          </a:xfrm>
          <a:prstGeom prst="roundRect">
            <a:avLst>
              <a:gd name="adj" fmla="val 962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45336"/>
            <a:ext cx="9235440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SinglePaneScene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previousEntries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listOf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Composable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SinglePaneSceneStrategy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override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SceneStrategyScope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calculateScene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SinglePaneScene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previousEntries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entries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dropLast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Стандартные и кастомные сцены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СЦЕНЫ</a:t>
            </a:r>
            <a:endParaRPr lang="en-US" sz="1200" dirty="0"/>
          </a:p>
        </p:txBody>
      </p:sp>
      <p:pic>
        <p:nvPicPr>
          <p:cNvPr id="8" name="Image 0" descr="/tmp/deck2/png/scenes_ki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099" y="1280160"/>
            <a:ext cx="7837322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4160520"/>
            <a:ext cx="10149840" cy="1965960"/>
          </a:xfrm>
          <a:prstGeom prst="roundRect">
            <a:avLst>
              <a:gd name="adj" fmla="val 2326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288536"/>
            <a:ext cx="97840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NavKey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sceneStrategies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listOf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listDetail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pPr algn="l"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оверлеи первыми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ProductDetail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ListDetailSceneStrategy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detailPane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Анимации — как это выглядит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АНИМАЦИИ</a:t>
            </a:r>
            <a:endParaRPr lang="en-US" sz="1200" dirty="0"/>
          </a:p>
        </p:txBody>
      </p:sp>
      <p:pic>
        <p:nvPicPr>
          <p:cNvPr id="8" name="Image 0" descr="/tmp/deck2/png/anim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182" y="1371600"/>
            <a:ext cx="989115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Анимации — как задаётся (глобально)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АНИМАЦИИ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9966960" cy="4754880"/>
          </a:xfrm>
          <a:prstGeom prst="roundRect">
            <a:avLst>
              <a:gd name="adj" fmla="val 962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545336"/>
            <a:ext cx="9601200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вперёд: новый экран въезжает справа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transitionSpec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slideInHorizontally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togetherWith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slideOutHorizontally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назад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popTransitionSpec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slideInHorizontally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togetherWith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slideOutHorizontally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жест predictive back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predictivePopTransitionSpec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slideInHorizontally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togetherWith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slideOutHorizontally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Анимации — переопределение на уровне entry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АНИМАЦИИ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9235440" cy="4023360"/>
          </a:xfrm>
          <a:prstGeom prst="roundRect">
            <a:avLst>
              <a:gd name="adj" fmla="val 1136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682496"/>
            <a:ext cx="8869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Details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переход только для этого экрана: снизу вверх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TransitionKey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slideInVertically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togetherWith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ExitTransition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KeepUntilTransitionsFinished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PopTransitionKey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EnterTransition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togetherWith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slideOutVertically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DetailsScreen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Метаданные entry переопределяют глобальные переходы NavDisplay только для этого экрана.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Декораторы — в чём проблема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ДЕКОРАТОРЫ</a:t>
            </a:r>
            <a:endParaRPr lang="en-US" sz="1200" dirty="0"/>
          </a:p>
        </p:txBody>
      </p:sp>
      <p:pic>
        <p:nvPicPr>
          <p:cNvPr id="8" name="Image 0" descr="/tmp/deck2/png/dec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5494"/>
            <a:ext cx="11064240" cy="39756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Декораторы — как собираются и что делают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ДЕКОРАТОРЫ</a:t>
            </a:r>
            <a:endParaRPr lang="en-US" sz="1200" dirty="0"/>
          </a:p>
        </p:txBody>
      </p:sp>
      <p:pic>
        <p:nvPicPr>
          <p:cNvPr id="8" name="Image 0" descr="/tmp/deck2/png/dec_assemb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280160"/>
            <a:ext cx="80467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88720" y="4343400"/>
            <a:ext cx="9784080" cy="1828800"/>
          </a:xfrm>
          <a:prstGeom prst="roundRect">
            <a:avLst>
              <a:gd name="adj" fmla="val 2500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4471416"/>
            <a:ext cx="9418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entryDecorators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listOf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rememberSaveableStateHolderNavEntryDecorator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состояние переживает пересоздание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rememberViewModelStoreNavEntryDecorator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</a:t>
            </a:r>
            <a:pPr algn="l"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свой VM на entry, очистка при pop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Декораторы — жизненный цикл VM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ДЕКОРАТОРЫ</a:t>
            </a:r>
            <a:endParaRPr lang="en-US" sz="1200" dirty="0"/>
          </a:p>
        </p:txBody>
      </p:sp>
      <p:pic>
        <p:nvPicPr>
          <p:cNvPr id="8" name="Image 0" descr="/tmp/deck2/png/dec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726" y="1463040"/>
            <a:ext cx="9876069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создаётся при push entry и очищается при pop — привязан к жизни entry на стеке.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VM-декоратора: что ломается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1 · ДЕКОРАТОРЫ</a:t>
            </a:r>
            <a:endParaRPr lang="en-US" sz="1200" dirty="0"/>
          </a:p>
        </p:txBody>
      </p:sp>
      <p:pic>
        <p:nvPicPr>
          <p:cNvPr id="8" name="Image 0" descr="/tmp/deck2/png/dec_with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3354"/>
            <a:ext cx="11064240" cy="3971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ФЛОУ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852928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Миграция Nav2 → Nav3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155680" y="6309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Мигрируем итеративно, островами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ПОДХОД</a:t>
            </a:r>
            <a:endParaRPr lang="en-US" sz="1200" dirty="0"/>
          </a:p>
        </p:txBody>
      </p:sp>
      <p:pic>
        <p:nvPicPr>
          <p:cNvPr id="8" name="Image 0" descr="/tmp/deck2/png/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9" y="1325880"/>
            <a:ext cx="10730301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4754880"/>
            <a:ext cx="3502152" cy="146304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Острова Nav3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Локальный NavDisplay внутри Nav2-узла — Nav2 остаётся внешней оболочкой.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15968" y="4754880"/>
            <a:ext cx="3502152" cy="146304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листьев к корню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44568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лист-фича, затем auth, в конце — хост home.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46136" y="4754880"/>
            <a:ext cx="3502152" cy="146304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8174736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big-bang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74736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Фичи развиваются; шов между Nav2 и Nav3 явный и маленький.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01 — базовый Nav2 + Fragments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</a:t>
            </a:r>
            <a:endParaRPr lang="en-US" sz="1200" dirty="0"/>
          </a:p>
        </p:txBody>
      </p:sp>
      <p:pic>
        <p:nvPicPr>
          <p:cNvPr id="8" name="Image 0" descr="/tmp/deck2/png/m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2701"/>
            <a:ext cx="11064240" cy="38726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01 — как устроено сейчас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 · NAV2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554480"/>
            <a:ext cx="9784080" cy="4206240"/>
          </a:xfrm>
          <a:prstGeom prst="roundRect">
            <a:avLst>
              <a:gd name="adj" fmla="val 1087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82496"/>
            <a:ext cx="941832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Navigation 2: NavController владеет всем стеком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navigation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startDestination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"homeFragment"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fragment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"...HomeFragment"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fragment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"...CatalogFragment"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destination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"productFragment"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fragment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dialog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"...FilterBottomSheetFragment"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dialog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"...ConfirmDialogFragment"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navigation</a:t>
            </a:r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02 — фича «Каталог» переезжает на Nav3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</a:t>
            </a:r>
            <a:endParaRPr lang="en-US" sz="1200" dirty="0"/>
          </a:p>
        </p:txBody>
      </p:sp>
      <p:pic>
        <p:nvPicPr>
          <p:cNvPr id="8" name="Image 0" descr="/tmp/deck2/png/m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2701"/>
            <a:ext cx="11064240" cy="387267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02 — что поменялось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 · КАТАЛОГ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335024"/>
            <a:ext cx="146304" cy="256032"/>
          </a:xfrm>
          <a:prstGeom prst="rect">
            <a:avLst/>
          </a:prstGeom>
          <a:solidFill>
            <a:srgbClr val="5C667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2 · было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335024"/>
            <a:ext cx="146304" cy="256032"/>
          </a:xfrm>
          <a:prstGeom prst="rect">
            <a:avLst/>
          </a:prstGeom>
          <a:solidFill>
            <a:srgbClr val="5B4EE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3 · стало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Каталог · Navigation 2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findNavController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action_catalog_to_product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фильтр — отдельный фрагмент: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findNavController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filterSheet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Каталог · локальный NavDisplay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sceneStrategies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listOf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CatalogList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ProductDetail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FilterSheet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03 — вложенный флоу auth на Nav3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</a:t>
            </a:r>
            <a:endParaRPr lang="en-US" sz="1200" dirty="0"/>
          </a:p>
        </p:txBody>
      </p:sp>
      <p:pic>
        <p:nvPicPr>
          <p:cNvPr id="8" name="Image 0" descr="/tmp/deck2/png/m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2701"/>
            <a:ext cx="11064240" cy="38726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03 — что поменялось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 · AUTH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335024"/>
            <a:ext cx="146304" cy="256032"/>
          </a:xfrm>
          <a:prstGeom prst="rect">
            <a:avLst/>
          </a:prstGeom>
          <a:solidFill>
            <a:srgbClr val="5C667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2 · было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335024"/>
            <a:ext cx="146304" cy="256032"/>
          </a:xfrm>
          <a:prstGeom prst="rect">
            <a:avLst/>
          </a:prstGeom>
          <a:solidFill>
            <a:srgbClr val="5B4EE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3 · стало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Auth · Navigation 2 (3 фрагмента)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findNavController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action_phone_to_sms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findNavController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navigate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action_sms_to_name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Auth · один NavDisplay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onNext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SmsKey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SmsKey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onNext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onFinish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04 — хост home → единый root NavDisplay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</a:t>
            </a:r>
            <a:endParaRPr lang="en-US" sz="1200" dirty="0"/>
          </a:p>
        </p:txBody>
      </p:sp>
      <p:pic>
        <p:nvPicPr>
          <p:cNvPr id="8" name="Image 0" descr="/tmp/deck2/png/m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1973"/>
            <a:ext cx="11064240" cy="37341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Шаг 04 — что поменялось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МИГРАЦИЯ · ХОСТ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1335024"/>
            <a:ext cx="146304" cy="256032"/>
          </a:xfrm>
          <a:prstGeom prst="rect">
            <a:avLst/>
          </a:prstGeom>
          <a:solidFill>
            <a:srgbClr val="5C667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2 · было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335024"/>
            <a:ext cx="146304" cy="256032"/>
          </a:xfrm>
          <a:prstGeom prst="rect">
            <a:avLst/>
          </a:prstGeom>
          <a:solidFill>
            <a:srgbClr val="5B4EE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2984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3 · стало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Хост · Navigation 2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activity_main.xml: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fragment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"NavHostFragment"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navGraph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F9E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"@nav/nav_main"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homeFragment + confirmDialog &lt;dialog&gt;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5486400" cy="4526280"/>
          </a:xfrm>
          <a:prstGeom prst="roundRect">
            <a:avLst>
              <a:gd name="adj" fmla="val 1010"/>
            </a:avLst>
          </a:prstGeom>
          <a:solidFill>
            <a:srgbClr val="F5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819656"/>
            <a:ext cx="51206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i="1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Хост · один корневой NavDisplay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setContent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rememberNavBackStack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F6B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HomeKey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NavDisplay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sceneStrategies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listOf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bottomSheet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DialogSceneStrategy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entryProvider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homeEntries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catalogEntries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57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authEntries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backStack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68912" cy="6565392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9E9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56848" y="384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4EE6"/>
          </a:solidFill>
          <a:ln/>
        </p:spPr>
      </p:sp>
      <p:sp>
        <p:nvSpPr>
          <p:cNvPr id="4" name="Text 2"/>
          <p:cNvSpPr/>
          <p:nvPr/>
        </p:nvSpPr>
        <p:spPr>
          <a:xfrm>
            <a:off x="1135684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NavDisplay или несколько?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ФЛОУ 2 · BEST PRACTICE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257800" cy="4114800"/>
          </a:xfrm>
          <a:prstGeom prst="roundRect">
            <a:avLst>
              <a:gd name="adj" fmla="val 1333"/>
            </a:avLst>
          </a:prstGeom>
          <a:solidFill>
            <a:srgbClr val="ECEAFC"/>
          </a:solidFill>
          <a:ln w="16510">
            <a:solidFill>
              <a:srgbClr val="5B4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3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умолчанию — ОДИН root NavDisplay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источник правды для системного back, predictive-back и deep links.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back-стеков (табы) — это всё ещё один NavDisplay.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Мультипейн и оверлеи — это Scenes, а не отдельные дисплеи.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257800" cy="4114800"/>
          </a:xfrm>
          <a:prstGeom prst="roundRect">
            <a:avLst>
              <a:gd name="adj" fmla="val 1333"/>
            </a:avLst>
          </a:prstGeom>
          <a:solidFill>
            <a:srgbClr val="F5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— только для самостоятельного навигатора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Самодостаточный мастер-флоу / визард.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Независимая одновременно видимая панель.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Отдельный экран/окно (foldable, внешний дисплей).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Встраиваемый компонент, навигирующий внутри себя.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Цена: своя обработка back, нет единого «где я».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забрать с собой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stack — это список, которым владеете вы; навигация = мутация списка.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Сцены задают раскладку (sheet, dialog, multipane); декораторы задают lifecycle (ViewModel, SavedState).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Мигрировать можно итеративно — островами Nav3 внутри Nav2, от листьев к хосту.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51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Конечная цель — один корневой NavDisplay на всё приложение.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5B4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Демо-репозиторий:  </a:t>
            </a:r>
            <a:pPr indent="0" marL="0">
              <a:buNone/>
            </a:pPr>
            <a:r>
              <a:rPr lang="en-US" sz="1400" b="1" dirty="0">
                <a:solidFill>
                  <a:srgbClr val="3F35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nav3-showcase</a:t>
            </a:r>
            <a:pPr indent="0" marL="0">
              <a:buNone/>
            </a:pPr>
            <a:r>
              <a:rPr lang="en-US" sz="1400" dirty="0">
                <a:solidFill>
                  <a:srgbClr val="3A42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ветки flow1/01..03 и flow2/01..04 — у каждой свой BRANCH.md.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Navigation 3</dc:title>
  <dc:subject>PptxGenJS Presentation</dc:subject>
  <dc:creator>Dmitrii Maksimov</dc:creator>
  <cp:lastModifiedBy>Dmitrii Maksimov</cp:lastModifiedBy>
  <cp:revision>1</cp:revision>
  <dcterms:created xsi:type="dcterms:W3CDTF">2026-06-20T15:06:40Z</dcterms:created>
  <dcterms:modified xsi:type="dcterms:W3CDTF">2026-06-20T15:06:40Z</dcterms:modified>
</cp:coreProperties>
</file>